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1426E"/>
          </a:solidFill>
          <a:ln w="19050">
            <a:solidFill>
              <a:srgbClr val="42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525492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rPr sz="4400" dirty="0"/>
              <a:t>Breast Cancer Diagnostic Classification</a:t>
            </a:r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rPr sz="2400" dirty="0"/>
              <a:t>An End-to-End, Interpretable Supervised Machine Learning Pipeline</a:t>
            </a:r>
            <a:endParaRPr lang="en-IN" sz="2400" dirty="0"/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endParaRPr lang="en-IN" sz="2400" dirty="0"/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endParaRPr lang="en-IN" sz="2400" dirty="0"/>
          </a:p>
          <a:p>
            <a:pPr algn="r"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rPr lang="en-IN" sz="2400" dirty="0"/>
              <a:t>By, </a:t>
            </a:r>
            <a:br>
              <a:rPr lang="en-IN" sz="2400" dirty="0"/>
            </a:br>
            <a:r>
              <a:rPr lang="en-IN" sz="2400" dirty="0" err="1"/>
              <a:t>Damarla</a:t>
            </a:r>
            <a:r>
              <a:rPr lang="en-IN" sz="2400" dirty="0"/>
              <a:t> Rajeev Nandan</a:t>
            </a:r>
          </a:p>
          <a:p>
            <a:pPr algn="r"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rPr lang="en-IN" sz="2400" dirty="0"/>
              <a:t>(2023006637)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1. Problem Statement &amp; Clinical Relevance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The Clinical Challenge</a:t>
            </a:r>
          </a:p>
          <a:p>
            <a:pPr>
              <a:spcAft>
                <a:spcPts val="1000"/>
              </a:spcAft>
              <a:defRPr sz="1100" b="1">
                <a:solidFill>
                  <a:srgbClr val="2D3748"/>
                </a:solidFill>
              </a:defRPr>
            </a:pPr>
            <a:r>
              <a:t>• High Mortality Risk:</a:t>
            </a:r>
            <a:r>
              <a:rPr b="0"/>
              <a:t> Early and accurate detection of breast cancer is critical for patient survival and timely surgical/oncological intervention.</a:t>
            </a:r>
          </a:p>
          <a:p>
            <a:pPr>
              <a:spcAft>
                <a:spcPts val="1000"/>
              </a:spcAft>
              <a:defRPr sz="1100" b="1">
                <a:solidFill>
                  <a:srgbClr val="2D3748"/>
                </a:solidFill>
              </a:defRPr>
            </a:pPr>
            <a:r>
              <a:t>• Biopsy Digitization:</a:t>
            </a:r>
            <a:r>
              <a:rPr b="0"/>
              <a:t> When a breast lesion is detected, clinicians perform a Fine Needle Aspirate (FNA). High-resolution digital microscopy extracts nuclear morphological measurements.</a:t>
            </a:r>
          </a:p>
          <a:p>
            <a:pPr>
              <a:spcAft>
                <a:spcPts val="1000"/>
              </a:spcAft>
              <a:defRPr sz="1100" b="1">
                <a:solidFill>
                  <a:srgbClr val="2D3748"/>
                </a:solidFill>
              </a:defRPr>
            </a:pPr>
            <a:r>
              <a:t>• Diagnostic Objective:</a:t>
            </a:r>
            <a:r>
              <a:rPr b="0"/>
              <a:t> Automate the classification of cell nuclei into Malignant (cancerous) vs. Benign (non-cancerous) to assist pathologists with rapid, reliable triage.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Machine Learning Formulation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• Task Category:</a:t>
            </a:r>
            <a:r>
              <a:rPr b="0"/>
              <a:t> Supervised Binary Classification (two mutually exclusive diagnostic classes).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• Target Variable:</a:t>
            </a:r>
            <a:r>
              <a:rPr b="0"/>
              <a:t> 'target' encoded as 0 = Malignant (cancerous), 1 = Benign (safe).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• Input Predictors:</a:t>
            </a:r>
            <a:r>
              <a:rPr b="0"/>
              <a:t> 30 continuous real-valued cellular morphology measurements.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• Why ML?:</a:t>
            </a:r>
            <a:r>
              <a:rPr b="0"/>
              <a:t> Reduces human diagnostic fatigue, eliminates inter-observer variance, and provides instant calibrated probabilities (&lt;1 ms inference).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• Cost Asymmetry:</a:t>
            </a:r>
            <a:r>
              <a:rPr b="0"/>
              <a:t> False Negatives (missing cancer) are clinically far more dangerous than False Positives.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2. Dataset Selection &amp; Data Integrity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0972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569 Biopsies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Total Samples (UCI Benchmark)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0972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30 Features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Continuous Nuclear Traits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10972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0 Missing / 0 Duplicates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100% Data Integrity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34747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Dataset Architecture &amp; Feature Decomposition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Dataset Provenance: Collected by Dr. William H. Wolberg, W. Nick Street, and Olvi L. Mangasarian (University of Wisconsin-Madison). Distributed via UCI ML Repository &amp; Scikit-Learn.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10 Core Morphological Attributes: Radius, Texture, Perimeter, Area, Smoothness, Compactness, Concavity, Concave Points, Symmetry, and Fractal Dimension.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3 Statistical Aggregations: For each of the 10 attributes, 3 metrics are recorded: Mean (10), Standard Error (10), and Worst/Largest Value (10) = 30 Input Predictors.</a:t>
            </a:r>
          </a:p>
          <a:p>
            <a:pPr>
              <a:defRPr sz="1100" b="1">
                <a:solidFill>
                  <a:srgbClr val="2B6CB0"/>
                </a:solidFill>
              </a:defRPr>
            </a:pPr>
            <a:r>
              <a:t>• Target Class Balance: 357 Benign (62.74%) vs. 212 Malignant (37.26%). Mild natural imbalance accounted for via Stratified Splitting.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3. Exploratory Data Analysis &amp; Morphological Visuals</a:t>
            </a:r>
          </a:p>
        </p:txBody>
      </p:sp>
      <p:pic>
        <p:nvPicPr>
          <p:cNvPr id="3" name="Picture 2" descr="featu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3291840"/>
          </a:xfrm>
          <a:prstGeom prst="rect">
            <a:avLst/>
          </a:prstGeom>
        </p:spPr>
      </p:pic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37760"/>
            <a:ext cx="10698480" cy="14630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Key EDA Insights: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1. Morphological Divergence: Malignant cell nuclei display significantly higher grayscale texture variance and severe contour concave indentations (Worst Concave Points: 0.182 vs 0.074).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2. Multicollinearity: Nuclear size dimensions (radius, perimeter, area) exhibit near-perfect correlation (r &gt; 0.98), necessitating regularized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4. Preprocessing &amp; Prevention of Data Leakage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1. Train / Test Partitioning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80% Training Set (455 samples)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20% Unseen Test Set (114 samples)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Applied random_state=42 for exact mathematical reproducibility.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2. Stratified Sampling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Used stratify=y in train_test_split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Preserves exact 62.7% Benign : 37.3% Malignant ratio across train &amp; test splits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Eliminates partition bias in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3. Leak-Free Standardization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Features range from 0.04 (concavity) to 2501 (area)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StandardScaler fitted strictly on X_train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X_test transformed using training mean &amp; std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• Zero data leakage guaranteed.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5. Model Selection &amp; Theoretical Justification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</a:defRPr>
            </a:pPr>
            <a:r>
              <a:t>Selected Model: Logistic Regression (L2)</a:t>
            </a:r>
          </a:p>
          <a:p>
            <a:pPr>
              <a:spcAft>
                <a:spcPts val="800"/>
              </a:spcAft>
              <a:defRPr sz="1050" b="1">
                <a:solidFill>
                  <a:srgbClr val="2D3748"/>
                </a:solidFill>
              </a:defRPr>
            </a:pPr>
            <a:r>
              <a:t>✔ Calibrated Probabilities:</a:t>
            </a:r>
            <a:r>
              <a:rPr b="0"/>
              <a:t> Maps linear combinations to posterior confidence scores via sigmoid σ(z), essential for clinical risk triage.</a:t>
            </a:r>
          </a:p>
          <a:p>
            <a:pPr>
              <a:spcAft>
                <a:spcPts val="800"/>
              </a:spcAft>
              <a:defRPr sz="1050" b="1">
                <a:solidFill>
                  <a:srgbClr val="2D3748"/>
                </a:solidFill>
              </a:defRPr>
            </a:pPr>
            <a:r>
              <a:t>✔ Intrinsic Interpretability:</a:t>
            </a:r>
            <a:r>
              <a:rPr b="0"/>
              <a:t> Model weights (w_i) represent direct log-odds, enabling transparent feature influence auditing.</a:t>
            </a:r>
          </a:p>
          <a:p>
            <a:pPr>
              <a:spcAft>
                <a:spcPts val="800"/>
              </a:spcAft>
              <a:defRPr sz="1050" b="1">
                <a:solidFill>
                  <a:srgbClr val="2D3748"/>
                </a:solidFill>
              </a:defRPr>
            </a:pPr>
            <a:r>
              <a:t>✔ Convexity &amp; Stability:</a:t>
            </a:r>
            <a:r>
              <a:rPr b="0"/>
              <a:t> Guarantees a unique global minimum with zero stochastic variance across runs.</a:t>
            </a:r>
          </a:p>
          <a:p>
            <a:pPr>
              <a:spcAft>
                <a:spcPts val="800"/>
              </a:spcAft>
              <a:defRPr sz="1050" b="1">
                <a:solidFill>
                  <a:srgbClr val="2D3748"/>
                </a:solidFill>
              </a:defRPr>
            </a:pPr>
            <a:r>
              <a:t>✔ L2 Regularization (C=1.0):</a:t>
            </a:r>
            <a:r>
              <a:rPr b="0"/>
              <a:t> Ridge penalty constrains weights, preventing overfitting on collinear dimensions.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</a:defRPr>
            </a:pPr>
            <a:r>
              <a:t>Alternative Considered: Decision Tree</a:t>
            </a:r>
          </a:p>
          <a:p>
            <a:pPr>
              <a:spcAft>
                <a:spcPts val="1000"/>
              </a:spcAft>
              <a:defRPr sz="1050" b="1">
                <a:solidFill>
                  <a:srgbClr val="2D3748"/>
                </a:solidFill>
              </a:defRPr>
            </a:pPr>
            <a:r>
              <a:t>• Why Considered:</a:t>
            </a:r>
            <a:r>
              <a:rPr b="0"/>
              <a:t> Decision trees provide intuitive if-then decision rules and handle non-linear relationships natively.</a:t>
            </a:r>
          </a:p>
          <a:p>
            <a:pPr>
              <a:spcAft>
                <a:spcPts val="1000"/>
              </a:spcAft>
              <a:defRPr sz="1050" b="1">
                <a:solidFill>
                  <a:srgbClr val="2D3748"/>
                </a:solidFill>
              </a:defRPr>
            </a:pPr>
            <a:r>
              <a:t>• Why Rejected for Primary Pipeline:</a:t>
            </a:r>
            <a:r>
              <a:rPr b="0"/>
              <a:t> Single decision trees suffer from high variance (overfitting) and produce uncalibrated step-function outputs rather than smooth probabilities.</a:t>
            </a:r>
          </a:p>
          <a:p>
            <a:pPr>
              <a:spcAft>
                <a:spcPts val="1000"/>
              </a:spcAft>
              <a:defRPr sz="1050" b="1">
                <a:solidFill>
                  <a:srgbClr val="2D3748"/>
                </a:solidFill>
              </a:defRPr>
            </a:pPr>
            <a:r>
              <a:t>• Comparison Verdict:</a:t>
            </a:r>
            <a:r>
              <a:rPr b="0"/>
              <a:t> Regularized Logistic Regression achieved superior test generalization (98.25%) and calibrated probabilities required for clinical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6. Quantitative Results &amp;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7548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60720" y="1463040"/>
            <a:ext cx="5669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</a:defRPr>
            </a:pPr>
            <a:r>
              <a:t>Performance on Unseen Test Set (N=114)</a:t>
            </a:r>
          </a:p>
          <a:p>
            <a:pPr>
              <a:spcAft>
                <a:spcPts val="600"/>
              </a:spcAft>
              <a:defRPr sz="1100" b="1">
                <a:solidFill>
                  <a:srgbClr val="2D3748"/>
                </a:solidFill>
              </a:defRPr>
            </a:pPr>
            <a:r>
              <a:t>Accuracy:  </a:t>
            </a:r>
            <a:r>
              <a:rPr b="1">
                <a:solidFill>
                  <a:srgbClr val="28A745"/>
                </a:solidFill>
              </a:rPr>
              <a:t>98.25%  </a:t>
            </a:r>
            <a:r>
              <a:rPr sz="950" b="0">
                <a:solidFill>
                  <a:srgbClr val="718096"/>
                </a:solidFill>
              </a:rPr>
              <a:t>(112 / 114 correct diagnoses)</a:t>
            </a:r>
          </a:p>
          <a:p>
            <a:pPr>
              <a:spcAft>
                <a:spcPts val="600"/>
              </a:spcAft>
              <a:defRPr sz="1100" b="1">
                <a:solidFill>
                  <a:srgbClr val="2D3748"/>
                </a:solidFill>
              </a:defRPr>
            </a:pPr>
            <a:r>
              <a:t>Precision (Benign):  </a:t>
            </a:r>
            <a:r>
              <a:rPr b="1">
                <a:solidFill>
                  <a:srgbClr val="28A745"/>
                </a:solidFill>
              </a:rPr>
              <a:t>98.61%  </a:t>
            </a:r>
            <a:r>
              <a:rPr sz="950" b="0">
                <a:solidFill>
                  <a:srgbClr val="718096"/>
                </a:solidFill>
              </a:rPr>
              <a:t>(71 true benign / 72 predicted benign)</a:t>
            </a:r>
          </a:p>
          <a:p>
            <a:pPr>
              <a:spcAft>
                <a:spcPts val="600"/>
              </a:spcAft>
              <a:defRPr sz="1100" b="1">
                <a:solidFill>
                  <a:srgbClr val="2D3748"/>
                </a:solidFill>
              </a:defRPr>
            </a:pPr>
            <a:r>
              <a:t>Recall (Benign):  </a:t>
            </a:r>
            <a:r>
              <a:rPr b="1">
                <a:solidFill>
                  <a:srgbClr val="28A745"/>
                </a:solidFill>
              </a:rPr>
              <a:t>98.61%  </a:t>
            </a:r>
            <a:r>
              <a:rPr sz="950" b="0">
                <a:solidFill>
                  <a:srgbClr val="718096"/>
                </a:solidFill>
              </a:rPr>
              <a:t>(71 true benign / 72 actual benign)</a:t>
            </a:r>
          </a:p>
          <a:p>
            <a:pPr>
              <a:spcAft>
                <a:spcPts val="600"/>
              </a:spcAft>
              <a:defRPr sz="1100" b="1">
                <a:solidFill>
                  <a:srgbClr val="2D3748"/>
                </a:solidFill>
              </a:defRPr>
            </a:pPr>
            <a:r>
              <a:t>F1-Score:  </a:t>
            </a:r>
            <a:r>
              <a:rPr b="1">
                <a:solidFill>
                  <a:srgbClr val="28A745"/>
                </a:solidFill>
              </a:rPr>
              <a:t>98.61%  </a:t>
            </a:r>
            <a:r>
              <a:rPr sz="950" b="0">
                <a:solidFill>
                  <a:srgbClr val="718096"/>
                </a:solidFill>
              </a:rPr>
              <a:t>(Harmonic mean of precision &amp; recall)</a:t>
            </a:r>
          </a:p>
          <a:p>
            <a:pPr>
              <a:spcAft>
                <a:spcPts val="600"/>
              </a:spcAft>
              <a:defRPr sz="1100" b="1">
                <a:solidFill>
                  <a:srgbClr val="2D3748"/>
                </a:solidFill>
              </a:defRPr>
            </a:pPr>
            <a:r>
              <a:t>Malignant Recall (Sensitivity):  </a:t>
            </a:r>
            <a:r>
              <a:rPr b="1">
                <a:solidFill>
                  <a:srgbClr val="28A745"/>
                </a:solidFill>
              </a:rPr>
              <a:t>97.62%  </a:t>
            </a:r>
            <a:r>
              <a:rPr sz="950" b="0">
                <a:solidFill>
                  <a:srgbClr val="718096"/>
                </a:solidFill>
              </a:rPr>
              <a:t>(41 / 42 malignant cancer cases caught)</a:t>
            </a:r>
          </a:p>
          <a:p>
            <a:br/>
            <a:r>
              <a:t>Confusion Matrix Breakdown: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TN = 41 (Malignant as Malignant)    • TP = 71 (Benign as Benign)</a:t>
            </a:r>
            <a:br/>
            <a:r>
              <a:t>• FP = 1 (Malignant as Benign)          • FN = 1 (Benign as Malignant)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7. Feature Influence &amp; Error Root-Cause Analysis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Top Predictors &amp; Error Diagnostics</a:t>
            </a:r>
          </a:p>
          <a:p>
            <a:pPr>
              <a:defRPr sz="1100" b="1">
                <a:solidFill>
                  <a:srgbClr val="2D3748"/>
                </a:solidFill>
              </a:defRPr>
            </a:pPr>
            <a:r>
              <a:t>Top Influential Features (Log-Odds):</a:t>
            </a:r>
          </a:p>
          <a:p>
            <a:pPr>
              <a:spcAft>
                <a:spcPts val="800"/>
              </a:spcAft>
              <a:defRPr sz="950">
                <a:solidFill>
                  <a:srgbClr val="2B6CB0"/>
                </a:solidFill>
              </a:defRPr>
            </a:pPr>
            <a:r>
              <a:t>1. worst texture (-1.26)</a:t>
            </a:r>
            <a:br/>
            <a:r>
              <a:t>2. radius error (-1.08)</a:t>
            </a:r>
            <a:br/>
            <a:r>
              <a:t>3. worst concave points (-0.95)</a:t>
            </a:r>
            <a:br/>
            <a:r>
              <a:t>4. worst area (-0.95)</a:t>
            </a:r>
            <a:br/>
            <a:r>
              <a:t>(Negative weights increase log-odds of Malignancy 0)</a:t>
            </a:r>
          </a:p>
          <a:p>
            <a:pPr>
              <a:defRPr sz="1100" b="1">
                <a:solidFill>
                  <a:srgbClr val="2D3748"/>
                </a:solidFill>
              </a:defRPr>
            </a:pPr>
            <a:r>
              <a:t>Root-Cause of the 2 Errors (1.75% error rate):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Sample #73 (False Positive / True Malignant): A borderline tumor with atypically smooth cell contours near the 50% boundary (p = 0.537).</a:t>
            </a:r>
            <a:br/>
            <a:r>
              <a:t>• Sample #541 (False Negative / True Benign): A benign mass exhibiting severe nuclear texture granularity that mimicked malignant dysplasia.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</a:defRPr>
            </a:pPr>
            <a:r>
              <a:t>SUPERVISED MACHINE LEARNING PIPELINE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8. Conclusion &amp; Production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</a:defRPr>
            </a:pPr>
            <a:r>
              <a:t>Project Summary &amp; Milestones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✔ Robust ML Pipeline:</a:t>
            </a:r>
            <a:r>
              <a:rPr b="0"/>
              <a:t> Built a fully modular, reproducible supervised classification pipeline in Python.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✔ Clinical Performance:</a:t>
            </a:r>
            <a:r>
              <a:rPr b="0"/>
              <a:t> Achieved 98.25% test accuracy and 97.62% malignant sensitivity.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✔ Full Interpretability:</a:t>
            </a:r>
            <a:r>
              <a:rPr b="0"/>
              <a:t> Dissected linear log-odds coefficients to validate clinical alignment.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✔ Serialized Serving:</a:t>
            </a:r>
            <a:r>
              <a:rPr b="0"/>
              <a:t> Exported trained model and scaler via joblib for sub-millisecond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</a:defRPr>
            </a:pPr>
            <a:r>
              <a:t>Future Production Improvements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➔ Threshold Tuning:</a:t>
            </a:r>
            <a:r>
              <a:rPr b="0"/>
              <a:t> Lower classification threshold from 0.50 to 0.30 to prioritize 100% malignant recall.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➔ Repeated Stratified K-Fold:</a:t>
            </a:r>
            <a:r>
              <a:rPr b="0"/>
              <a:t> Implement 10-fold cross-validation to assess variance across folds.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➔ Collinear Feature Elimination:</a:t>
            </a:r>
            <a:r>
              <a:rPr b="0"/>
              <a:t> Drop redundant perimeter/radius features to simplify model dimensionality.</a:t>
            </a:r>
          </a:p>
          <a:p>
            <a:pPr>
              <a:spcAft>
                <a:spcPts val="800"/>
              </a:spcAft>
              <a:defRPr sz="1100" b="1">
                <a:solidFill>
                  <a:srgbClr val="2D3748"/>
                </a:solidFill>
              </a:defRPr>
            </a:pPr>
            <a:r>
              <a:t>➔ Multi-Center Hospital Trials:</a:t>
            </a:r>
            <a:r>
              <a:rPr b="0"/>
              <a:t> Test generalization on external clinical hospital cohorts.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1144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Rajeev Nandan</cp:lastModifiedBy>
  <cp:revision>2</cp:revision>
  <dcterms:created xsi:type="dcterms:W3CDTF">2013-01-27T09:14:16Z</dcterms:created>
  <dcterms:modified xsi:type="dcterms:W3CDTF">2026-09-16T16:27:07Z</dcterms:modified>
  <cp:category/>
</cp:coreProperties>
</file>